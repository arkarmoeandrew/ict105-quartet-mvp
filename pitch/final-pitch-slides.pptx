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305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3A3050"/>
                </a:solidFill>
                <a:latin typeface="Calibri"/>
              </a:rPr>
              <a:t>Validation Scores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(out of 5)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05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Usability</c:v>
                  </c:pt>
                  <c:pt idx="1">
                    <c:v>Interest</c:v>
                  </c:pt>
                  <c:pt idx="2">
                    <c:v>Usefulness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4.17</c:v>
                </c:pt>
                <c:pt idx="1">
                  <c:v>4.25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05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0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</c:scaling>
        <c:delete val="0"/>
        <c:axPos val="b"/>
        <c:majorGridlines>
          <c:spPr>
            <a:ln w="9525" cap="flat">
              <a:solidFill>
                <a:srgbClr val="E0D5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A30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ln w="25400" cap="flat">
                <a:solidFill>
                  <a:srgbClr val="1F1930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A3050"/>
              </a:solidFill>
              <a:ln w="25400" cap="flat">
                <a:solidFill>
                  <a:srgbClr val="1F1930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Success</c:v>
                </c:pt>
                <c:pt idx="1">
                  <c:v>Incomplete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83.3</c:v>
                </c:pt>
                <c:pt idx="1">
                  <c:v>16.7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B39D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Usability</c:v>
                  </c:pt>
                  <c:pt idx="1">
                    <c:v>Interest</c:v>
                  </c:pt>
                  <c:pt idx="2">
                    <c:v>Usefulness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4.17</c:v>
                </c:pt>
                <c:pt idx="1">
                  <c:v>4.25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E9E4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5"/>
        </c:scaling>
        <c:delete val="0"/>
        <c:axPos val="l"/>
        <c:majorGridlines>
          <c:spPr>
            <a:ln w="9525" cap="flat">
              <a:solidFill>
                <a:srgbClr val="3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79B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1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4" Type="http://schemas.openxmlformats.org/officeDocument/2006/relationships/chart" Target="/ppt/charts/chart3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4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6A1B9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206240" cy="4206240"/>
          </a:xfrm>
          <a:prstGeom prst="ellipse">
            <a:avLst/>
          </a:prstGeom>
          <a:solidFill>
            <a:srgbClr val="6A1B9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ICT105 · UNIVERSITY 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9601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RSU Nexus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Resource Marketplace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campus marketplace connecting Rangsit University students to share, borrow, lend, and request academic equipment, learning resources, and student services.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566928" cy="56692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9" name="Image 0" descr="/home/claude/deck/icons/graduationC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519" y="4470959"/>
            <a:ext cx="311810" cy="31181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9560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4343400"/>
            <a:ext cx="566928" cy="56692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2" name="Image 1" descr="/home/claude/deck/icons/sha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959" y="4470959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49560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291840" y="4343400"/>
            <a:ext cx="566928" cy="56692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5" name="Image 2" descr="/home/claude/deck/icon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399" y="4470959"/>
            <a:ext cx="311810" cy="3118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63240" y="49560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863840" y="1051560"/>
            <a:ext cx="3566160" cy="4800600"/>
          </a:xfrm>
          <a:prstGeom prst="roundRect">
            <a:avLst>
              <a:gd name="adj" fmla="val 3590"/>
            </a:avLst>
          </a:prstGeom>
          <a:solidFill>
            <a:srgbClr val="1F1930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183880" y="1371600"/>
            <a:ext cx="502920" cy="50292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9" name="Image 3" descr="/home/claude/deck/icons/handshak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1472184"/>
            <a:ext cx="301752" cy="3017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823960" y="13807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823960" y="16002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Quartet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8183880" y="2103120"/>
            <a:ext cx="2926080" cy="0"/>
          </a:xfrm>
          <a:prstGeom prst="line">
            <a:avLst/>
          </a:prstGeom>
          <a:noFill/>
          <a:ln w="12700">
            <a:solidFill>
              <a:srgbClr val="3A305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183880" y="2459736"/>
            <a:ext cx="100584" cy="100584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24" name="Text 18"/>
          <p:cNvSpPr/>
          <p:nvPr/>
        </p:nvSpPr>
        <p:spPr>
          <a:xfrm>
            <a:off x="8430768" y="23774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Arkar Moe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8183880" y="2935224"/>
            <a:ext cx="100584" cy="100584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26" name="Text 20"/>
          <p:cNvSpPr/>
          <p:nvPr/>
        </p:nvSpPr>
        <p:spPr>
          <a:xfrm>
            <a:off x="8430768" y="2852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Thiri Shin Thant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8183880" y="3410712"/>
            <a:ext cx="100584" cy="100584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28" name="Text 22"/>
          <p:cNvSpPr/>
          <p:nvPr/>
        </p:nvSpPr>
        <p:spPr>
          <a:xfrm>
            <a:off x="8430768" y="33284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Khant Ko</a:t>
            </a:r>
            <a:endParaRPr lang="en-US" sz="1450" dirty="0"/>
          </a:p>
        </p:txBody>
      </p:sp>
      <p:sp>
        <p:nvSpPr>
          <p:cNvPr id="29" name="Shape 23"/>
          <p:cNvSpPr/>
          <p:nvPr/>
        </p:nvSpPr>
        <p:spPr>
          <a:xfrm>
            <a:off x="8183880" y="3886200"/>
            <a:ext cx="100584" cy="100584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30" name="Text 24"/>
          <p:cNvSpPr/>
          <p:nvPr/>
        </p:nvSpPr>
        <p:spPr>
          <a:xfrm>
            <a:off x="8430768" y="380390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 Htet Aung</a:t>
            </a:r>
            <a:endParaRPr lang="en-US" sz="1450" dirty="0"/>
          </a:p>
        </p:txBody>
      </p:sp>
      <p:sp>
        <p:nvSpPr>
          <p:cNvPr id="31" name="Shape 25"/>
          <p:cNvSpPr/>
          <p:nvPr/>
        </p:nvSpPr>
        <p:spPr>
          <a:xfrm>
            <a:off x="8183880" y="4370832"/>
            <a:ext cx="2926080" cy="0"/>
          </a:xfrm>
          <a:prstGeom prst="line">
            <a:avLst/>
          </a:prstGeom>
          <a:noFill/>
          <a:ln w="12700">
            <a:solidFill>
              <a:srgbClr val="3A305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183880" y="45537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Rangsit University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8183880" y="4846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Technology Startup Style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Target Users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valuable resources — cameras, calculators, textbooks, lab equipment — but rely on Facebook groups, chat apps, or word-of-mouth, making it hard to find or share them.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606040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7" name="Image 0" descr="/home/claude/deck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349" y="2671877"/>
            <a:ext cx="197510" cy="1975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2514600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resource visibility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136392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" y="3227832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1" name="Image 1" descr="/home/claude/deck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349" y="3293669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8" y="3136392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 searching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758184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14" name="Shape 10"/>
          <p:cNvSpPr/>
          <p:nvPr/>
        </p:nvSpPr>
        <p:spPr>
          <a:xfrm>
            <a:off x="667512" y="3849624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5" name="Image 2" descr="/home/claude/deck/icons/redo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9" y="3915461"/>
            <a:ext cx="197510" cy="1975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5568" y="3758184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purchases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379976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18" name="Shape 13"/>
          <p:cNvSpPr/>
          <p:nvPr/>
        </p:nvSpPr>
        <p:spPr>
          <a:xfrm>
            <a:off x="667512" y="447141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9" name="Image 3" descr="/home/claude/deck/icons/shar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9" y="4537253"/>
            <a:ext cx="197510" cy="19751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15568" y="4379976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sharing opportunities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548640" y="5001768"/>
            <a:ext cx="6035040" cy="512064"/>
          </a:xfrm>
          <a:prstGeom prst="roundRect">
            <a:avLst>
              <a:gd name="adj" fmla="val 14286"/>
            </a:avLst>
          </a:prstGeom>
          <a:solidFill>
            <a:srgbClr val="F3EDFB"/>
          </a:solidFill>
          <a:ln/>
        </p:spPr>
      </p:sp>
      <p:sp>
        <p:nvSpPr>
          <p:cNvPr id="22" name="Shape 16"/>
          <p:cNvSpPr/>
          <p:nvPr/>
        </p:nvSpPr>
        <p:spPr>
          <a:xfrm>
            <a:off x="667512" y="5093208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3" name="Image 4" descr="/home/claude/deck/icons/commentSlas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9" y="5159045"/>
            <a:ext cx="197510" cy="19751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15568" y="5001768"/>
            <a:ext cx="5303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communication between students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949440" y="12344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949440" y="1572768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7" name="Image 5" descr="/home/claude/deck/icons/graduationCap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4080" y="1667408"/>
            <a:ext cx="231343" cy="23134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498080" y="1572768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Rangsit University students</a:t>
            </a:r>
            <a:endParaRPr lang="en-US" sz="1350" dirty="0"/>
          </a:p>
        </p:txBody>
      </p:sp>
      <p:sp>
        <p:nvSpPr>
          <p:cNvPr id="29" name="Shape 21"/>
          <p:cNvSpPr/>
          <p:nvPr/>
        </p:nvSpPr>
        <p:spPr>
          <a:xfrm>
            <a:off x="6949440" y="2139696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0" name="Image 6" descr="/home/claude/deck/icons/userFriends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4080" y="2234336"/>
            <a:ext cx="231343" cy="23134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98080" y="2139696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clubs</a:t>
            </a:r>
            <a:endParaRPr lang="en-US" sz="1350" dirty="0"/>
          </a:p>
        </p:txBody>
      </p:sp>
      <p:sp>
        <p:nvSpPr>
          <p:cNvPr id="32" name="Shape 23"/>
          <p:cNvSpPr/>
          <p:nvPr/>
        </p:nvSpPr>
        <p:spPr>
          <a:xfrm>
            <a:off x="6949440" y="2706624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3" name="Image 7" descr="/home/claude/deck/icons/users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4080" y="2801264"/>
            <a:ext cx="231343" cy="231343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498080" y="2706624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organizations</a:t>
            </a:r>
            <a:endParaRPr lang="en-US" sz="1350" dirty="0"/>
          </a:p>
        </p:txBody>
      </p:sp>
      <p:sp>
        <p:nvSpPr>
          <p:cNvPr id="35" name="Shape 25"/>
          <p:cNvSpPr/>
          <p:nvPr/>
        </p:nvSpPr>
        <p:spPr>
          <a:xfrm>
            <a:off x="6949440" y="3273552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6" name="Image 8" descr="/home/claude/deck/icons/chalkboard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4080" y="3368192"/>
            <a:ext cx="231343" cy="231343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98080" y="3273552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</a:t>
            </a:r>
            <a:endParaRPr lang="en-US" sz="1350" dirty="0"/>
          </a:p>
        </p:txBody>
      </p:sp>
      <p:sp>
        <p:nvSpPr>
          <p:cNvPr id="38" name="Shape 27"/>
          <p:cNvSpPr/>
          <p:nvPr/>
        </p:nvSpPr>
        <p:spPr>
          <a:xfrm>
            <a:off x="6949440" y="3840480"/>
            <a:ext cx="420624" cy="42062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9" name="Image 9" descr="/home/claude/deck/icons/toolbox_FFFFF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4080" y="3935120"/>
            <a:ext cx="231343" cy="231343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7498080" y="384048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providers</a:t>
            </a:r>
            <a:endParaRPr lang="en-US" sz="1350" dirty="0"/>
          </a:p>
        </p:txBody>
      </p:sp>
      <p:sp>
        <p:nvSpPr>
          <p:cNvPr id="41" name="Shape 29"/>
          <p:cNvSpPr/>
          <p:nvPr/>
        </p:nvSpPr>
        <p:spPr>
          <a:xfrm>
            <a:off x="6949440" y="4617720"/>
            <a:ext cx="4709160" cy="1737360"/>
          </a:xfrm>
          <a:prstGeom prst="roundRect">
            <a:avLst>
              <a:gd name="adj" fmla="val 5263"/>
            </a:avLst>
          </a:prstGeom>
          <a:solidFill>
            <a:srgbClr val="241B33"/>
          </a:solidFill>
          <a:ln/>
        </p:spPr>
      </p:sp>
      <p:sp>
        <p:nvSpPr>
          <p:cNvPr id="42" name="Text 30"/>
          <p:cNvSpPr/>
          <p:nvPr/>
        </p:nvSpPr>
        <p:spPr>
          <a:xfrm>
            <a:off x="7178040" y="4764024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50" dirty="0"/>
          </a:p>
        </p:txBody>
      </p:sp>
      <p:pic>
        <p:nvPicPr>
          <p:cNvPr id="43" name="Image 10" descr="/home/claude/deck/icons/arrowDown_B39DDB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1724" y="5129784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7178040" y="53309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trustworthy campus marketplace</a:t>
            </a:r>
            <a:endParaRPr lang="en-US" sz="1250" dirty="0"/>
          </a:p>
        </p:txBody>
      </p:sp>
      <p:pic>
        <p:nvPicPr>
          <p:cNvPr id="45" name="Image 11" descr="/home/claude/deck/icons/arrowDown_B39DD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1724" y="5696712"/>
            <a:ext cx="164592" cy="164592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7178040" y="589788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</a:t>
            </a:r>
            <a:endParaRPr lang="en-US" sz="1500" dirty="0"/>
          </a:p>
        </p:txBody>
      </p:sp>
      <p:sp>
        <p:nvSpPr>
          <p:cNvPr id="47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Discovery &amp; Validation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was developed based on real user research with the RSU student community.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0" cy="2331720"/>
          </a:xfrm>
          <a:prstGeom prst="roundRect">
            <a:avLst>
              <a:gd name="adj" fmla="val 4706"/>
            </a:avLst>
          </a:prstGeom>
          <a:solidFill>
            <a:srgbClr val="241B3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6" name="Image 0" descr="/home/claude/deck/icon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179451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Discovery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41248" y="2414016"/>
            <a:ext cx="82296" cy="82296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23317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Interviewed university students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2916936"/>
            <a:ext cx="82296" cy="82296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28346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problems finding campus resources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1248" y="3419856"/>
            <a:ext cx="82296" cy="82296"/>
          </a:xfrm>
          <a:prstGeom prst="ellipse">
            <a:avLst/>
          </a:prstGeom>
          <a:solidFill>
            <a:srgbClr val="B39DDB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333756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preferred one centralized platform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892040" y="1417320"/>
            <a:ext cx="1540764" cy="1078992"/>
          </a:xfrm>
          <a:prstGeom prst="roundRect">
            <a:avLst>
              <a:gd name="adj" fmla="val 8475"/>
            </a:avLst>
          </a:prstGeom>
          <a:solidFill>
            <a:srgbClr val="F3EDFB"/>
          </a:solidFill>
          <a:ln/>
        </p:spPr>
      </p:sp>
      <p:sp>
        <p:nvSpPr>
          <p:cNvPr id="15" name="Text 12"/>
          <p:cNvSpPr/>
          <p:nvPr/>
        </p:nvSpPr>
        <p:spPr>
          <a:xfrm>
            <a:off x="4892040" y="1527048"/>
            <a:ext cx="1540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700" dirty="0"/>
          </a:p>
        </p:txBody>
      </p:sp>
      <p:sp>
        <p:nvSpPr>
          <p:cNvPr id="16" name="Text 13"/>
          <p:cNvSpPr/>
          <p:nvPr/>
        </p:nvSpPr>
        <p:spPr>
          <a:xfrm>
            <a:off x="4983480" y="2075688"/>
            <a:ext cx="1357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97396" y="1417320"/>
            <a:ext cx="1540764" cy="1078992"/>
          </a:xfrm>
          <a:prstGeom prst="roundRect">
            <a:avLst>
              <a:gd name="adj" fmla="val 8475"/>
            </a:avLst>
          </a:prstGeom>
          <a:solidFill>
            <a:srgbClr val="F3EDFB"/>
          </a:solidFill>
          <a:ln/>
        </p:spPr>
      </p:sp>
      <p:sp>
        <p:nvSpPr>
          <p:cNvPr id="18" name="Text 15"/>
          <p:cNvSpPr/>
          <p:nvPr/>
        </p:nvSpPr>
        <p:spPr>
          <a:xfrm>
            <a:off x="6597396" y="1527048"/>
            <a:ext cx="1540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2700" dirty="0"/>
          </a:p>
        </p:txBody>
      </p:sp>
      <p:sp>
        <p:nvSpPr>
          <p:cNvPr id="19" name="Text 16"/>
          <p:cNvSpPr/>
          <p:nvPr/>
        </p:nvSpPr>
        <p:spPr>
          <a:xfrm>
            <a:off x="6688836" y="2075688"/>
            <a:ext cx="1357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892040" y="2660904"/>
            <a:ext cx="1540764" cy="1078992"/>
          </a:xfrm>
          <a:prstGeom prst="roundRect">
            <a:avLst>
              <a:gd name="adj" fmla="val 8475"/>
            </a:avLst>
          </a:prstGeom>
          <a:solidFill>
            <a:srgbClr val="F3EDFB"/>
          </a:solidFill>
          <a:ln/>
        </p:spPr>
      </p:sp>
      <p:sp>
        <p:nvSpPr>
          <p:cNvPr id="21" name="Text 18"/>
          <p:cNvSpPr/>
          <p:nvPr/>
        </p:nvSpPr>
        <p:spPr>
          <a:xfrm>
            <a:off x="4892040" y="2770632"/>
            <a:ext cx="1540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4.17/5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4983480" y="3319272"/>
            <a:ext cx="1357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Usability Score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97396" y="2660904"/>
            <a:ext cx="1540764" cy="1078992"/>
          </a:xfrm>
          <a:prstGeom prst="roundRect">
            <a:avLst>
              <a:gd name="adj" fmla="val 8475"/>
            </a:avLst>
          </a:prstGeom>
          <a:solidFill>
            <a:srgbClr val="F3EDFB"/>
          </a:solidFill>
          <a:ln/>
        </p:spPr>
      </p:sp>
      <p:sp>
        <p:nvSpPr>
          <p:cNvPr id="24" name="Text 21"/>
          <p:cNvSpPr/>
          <p:nvPr/>
        </p:nvSpPr>
        <p:spPr>
          <a:xfrm>
            <a:off x="6597396" y="2770632"/>
            <a:ext cx="15407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A1B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4.25/5</a:t>
            </a:r>
            <a:endParaRPr lang="en-US" sz="2700" dirty="0"/>
          </a:p>
        </p:txBody>
      </p:sp>
      <p:sp>
        <p:nvSpPr>
          <p:cNvPr id="25" name="Text 22"/>
          <p:cNvSpPr/>
          <p:nvPr/>
        </p:nvSpPr>
        <p:spPr>
          <a:xfrm>
            <a:off x="6688836" y="3319272"/>
            <a:ext cx="13578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Interest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366760" y="141732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F3EDFB"/>
          </a:solidFill>
          <a:ln/>
        </p:spPr>
      </p:sp>
      <p:graphicFrame>
        <p:nvGraphicFramePr>
          <p:cNvPr id="27" name="Chart 0" descr=""/>
          <p:cNvGraphicFramePr/>
          <p:nvPr/>
        </p:nvGraphicFramePr>
        <p:xfrm>
          <a:off x="8503920" y="1527048"/>
          <a:ext cx="301752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548640" y="3977640"/>
            <a:ext cx="5166360" cy="2148840"/>
          </a:xfrm>
          <a:prstGeom prst="roundRect">
            <a:avLst>
              <a:gd name="adj" fmla="val 4255"/>
            </a:avLst>
          </a:prstGeom>
          <a:solidFill>
            <a:srgbClr val="EAF7EF"/>
          </a:solidFill>
          <a:ln/>
        </p:spPr>
      </p:sp>
      <p:sp>
        <p:nvSpPr>
          <p:cNvPr id="29" name="Shape 25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30" name="Image 1" descr="/home/claude/deck/icons/thumbsU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1" y="4292651"/>
            <a:ext cx="211226" cy="21122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280160" y="42336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Positive Feedback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22960" y="47548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navigation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822960" y="5084064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Modern interface</a:t>
            </a:r>
            <a:endParaRPr lang="en-US" sz="1250" dirty="0"/>
          </a:p>
        </p:txBody>
      </p:sp>
      <p:sp>
        <p:nvSpPr>
          <p:cNvPr id="34" name="Text 29"/>
          <p:cNvSpPr/>
          <p:nvPr/>
        </p:nvSpPr>
        <p:spPr>
          <a:xfrm>
            <a:off x="822960" y="5413248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Useful search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822960" y="5742432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categories</a:t>
            </a:r>
            <a:endParaRPr lang="en-US" sz="1250" dirty="0"/>
          </a:p>
        </p:txBody>
      </p:sp>
      <p:sp>
        <p:nvSpPr>
          <p:cNvPr id="36" name="Shape 31"/>
          <p:cNvSpPr/>
          <p:nvPr/>
        </p:nvSpPr>
        <p:spPr>
          <a:xfrm>
            <a:off x="5897880" y="3977640"/>
            <a:ext cx="5745175" cy="2148840"/>
          </a:xfrm>
          <a:prstGeom prst="roundRect">
            <a:avLst>
              <a:gd name="adj" fmla="val 4255"/>
            </a:avLst>
          </a:prstGeom>
          <a:solidFill>
            <a:srgbClr val="F5EFEA"/>
          </a:solidFill>
          <a:ln/>
        </p:spPr>
      </p:sp>
      <p:sp>
        <p:nvSpPr>
          <p:cNvPr id="37" name="Shape 32"/>
          <p:cNvSpPr/>
          <p:nvPr/>
        </p:nvSpPr>
        <p:spPr>
          <a:xfrm>
            <a:off x="6126480" y="4206240"/>
            <a:ext cx="384048" cy="384048"/>
          </a:xfrm>
          <a:prstGeom prst="ellipse">
            <a:avLst/>
          </a:prstGeom>
          <a:solidFill>
            <a:srgbClr val="C77B33"/>
          </a:solidFill>
          <a:ln/>
        </p:spPr>
      </p:sp>
      <p:pic>
        <p:nvPicPr>
          <p:cNvPr id="38" name="Image 2" descr="/home/claude/deck/icons/wren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891" y="4292651"/>
            <a:ext cx="211226" cy="21122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629400" y="4233672"/>
            <a:ext cx="4830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Improvements Suggested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6172200" y="4754880"/>
            <a:ext cx="5196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Better availability labels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6172200" y="5084064"/>
            <a:ext cx="5196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Clearer request status</a:t>
            </a:r>
            <a:endParaRPr lang="en-US" sz="1250" dirty="0"/>
          </a:p>
        </p:txBody>
      </p:sp>
      <p:sp>
        <p:nvSpPr>
          <p:cNvPr id="42" name="Text 36"/>
          <p:cNvSpPr/>
          <p:nvPr/>
        </p:nvSpPr>
        <p:spPr>
          <a:xfrm>
            <a:off x="6172200" y="5413248"/>
            <a:ext cx="5196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messaging</a:t>
            </a:r>
            <a:endParaRPr lang="en-US" sz="1250" dirty="0"/>
          </a:p>
        </p:txBody>
      </p:sp>
      <p:sp>
        <p:nvSpPr>
          <p:cNvPr id="43" name="Text 37"/>
          <p:cNvSpPr/>
          <p:nvPr/>
        </p:nvSpPr>
        <p:spPr>
          <a:xfrm>
            <a:off x="6172200" y="5742432"/>
            <a:ext cx="5196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4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Faster filtering</a:t>
            </a:r>
            <a:endParaRPr lang="en-US" sz="1250" dirty="0"/>
          </a:p>
        </p:txBody>
      </p:sp>
      <p:sp>
        <p:nvSpPr>
          <p:cNvPr id="44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6A1B9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Value Proposition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961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is a campus resource marketplace where verified students can: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6" name="Image 0" descr="/home/claude/deck/icons/sto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50" y="1539850"/>
            <a:ext cx="212141" cy="2121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Marketplace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1463040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9" name="Image 1" descr="/home/claude/deck/icon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810" y="1539850"/>
            <a:ext cx="212141" cy="2121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04488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resources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1975104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2" name="Image 2" descr="/home/claude/deck/icons/shar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2051914"/>
            <a:ext cx="212141" cy="2121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19751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equipment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429000" y="1975104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5" name="Image 3" descr="/home/claude/deck/icons/chalk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810" y="2051914"/>
            <a:ext cx="212141" cy="2121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04488" y="19751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tutoring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8" name="Image 4" descr="/home/claude/deck/icons/reques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50" y="2563978"/>
            <a:ext cx="212141" cy="21214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24128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resources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429000" y="2487168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1" name="Image 5" descr="/home/claude/deck/icons/tasks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5810" y="2563978"/>
            <a:ext cx="212141" cy="21214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904488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request status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548640" y="2999232"/>
            <a:ext cx="365760" cy="365760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4" name="Image 6" descr="/home/claude/deck/icons/envelope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50" y="3076042"/>
            <a:ext cx="212141" cy="21214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24128" y="29992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resource owners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548640" y="3840480"/>
            <a:ext cx="1014984" cy="384048"/>
          </a:xfrm>
          <a:prstGeom prst="roundRect">
            <a:avLst>
              <a:gd name="adj" fmla="val 50000"/>
            </a:avLst>
          </a:prstGeom>
          <a:solidFill>
            <a:srgbClr val="1F193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548640" y="3840480"/>
            <a:ext cx="10149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>
            <a:off x="1728216" y="384048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1F193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0" name="Text 21"/>
          <p:cNvSpPr/>
          <p:nvPr/>
        </p:nvSpPr>
        <p:spPr>
          <a:xfrm>
            <a:off x="1728216" y="3840480"/>
            <a:ext cx="1755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3648456" y="3840480"/>
            <a:ext cx="1591056" cy="384048"/>
          </a:xfrm>
          <a:prstGeom prst="roundRect">
            <a:avLst>
              <a:gd name="adj" fmla="val 50000"/>
            </a:avLst>
          </a:prstGeom>
          <a:solidFill>
            <a:srgbClr val="1F1930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3648456" y="3840480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Services</a:t>
            </a:r>
            <a:endParaRPr lang="en-US" sz="1150" dirty="0"/>
          </a:p>
        </p:txBody>
      </p:sp>
      <p:sp>
        <p:nvSpPr>
          <p:cNvPr id="33" name="Shape 24"/>
          <p:cNvSpPr/>
          <p:nvPr/>
        </p:nvSpPr>
        <p:spPr>
          <a:xfrm>
            <a:off x="548640" y="443484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1F1930"/>
          </a:solidFill>
          <a:ln/>
        </p:spPr>
      </p:sp>
      <p:sp>
        <p:nvSpPr>
          <p:cNvPr id="34" name="Shape 25"/>
          <p:cNvSpPr/>
          <p:nvPr/>
        </p:nvSpPr>
        <p:spPr>
          <a:xfrm>
            <a:off x="777240" y="4636008"/>
            <a:ext cx="402336" cy="402336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5" name="Image 7" descr="/home/claude/deck/icons/graduationCap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766" y="4726534"/>
            <a:ext cx="221285" cy="22128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280160" y="46725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Students</a:t>
            </a:r>
            <a:endParaRPr lang="en-US" sz="1400" dirty="0"/>
          </a:p>
        </p:txBody>
      </p:sp>
      <p:sp>
        <p:nvSpPr>
          <p:cNvPr id="37" name="Text 27"/>
          <p:cNvSpPr/>
          <p:nvPr/>
        </p:nvSpPr>
        <p:spPr>
          <a:xfrm>
            <a:off x="777240" y="5212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Save money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777240" y="5550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Save time</a:t>
            </a:r>
            <a:endParaRPr lang="en-US" sz="1200" dirty="0"/>
          </a:p>
        </p:txBody>
      </p:sp>
      <p:sp>
        <p:nvSpPr>
          <p:cNvPr id="39" name="Text 29"/>
          <p:cNvSpPr/>
          <p:nvPr/>
        </p:nvSpPr>
        <p:spPr>
          <a:xfrm>
            <a:off x="777240" y="58887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Access more campus resources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3794760" y="4434840"/>
            <a:ext cx="3063240" cy="1874520"/>
          </a:xfrm>
          <a:prstGeom prst="roundRect">
            <a:avLst>
              <a:gd name="adj" fmla="val 5854"/>
            </a:avLst>
          </a:prstGeom>
          <a:solidFill>
            <a:srgbClr val="1F1930"/>
          </a:solidFill>
          <a:ln/>
        </p:spPr>
      </p:sp>
      <p:sp>
        <p:nvSpPr>
          <p:cNvPr id="41" name="Shape 31"/>
          <p:cNvSpPr/>
          <p:nvPr/>
        </p:nvSpPr>
        <p:spPr>
          <a:xfrm>
            <a:off x="4023360" y="4636008"/>
            <a:ext cx="402336" cy="402336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42" name="Image 8" descr="/home/claude/deck/icons/toolbox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3886" y="4726534"/>
            <a:ext cx="221285" cy="221285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526280" y="46725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Resource Providers</a:t>
            </a:r>
            <a:endParaRPr lang="en-US" sz="1300" dirty="0"/>
          </a:p>
        </p:txBody>
      </p:sp>
      <p:sp>
        <p:nvSpPr>
          <p:cNvPr id="44" name="Text 33"/>
          <p:cNvSpPr/>
          <p:nvPr/>
        </p:nvSpPr>
        <p:spPr>
          <a:xfrm>
            <a:off x="4023360" y="52120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Increase visibility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4023360" y="5550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Help other students</a:t>
            </a:r>
            <a:endParaRPr lang="en-US" sz="1200" dirty="0"/>
          </a:p>
        </p:txBody>
      </p:sp>
      <p:sp>
        <p:nvSpPr>
          <p:cNvPr id="46" name="Text 35"/>
          <p:cNvSpPr/>
          <p:nvPr/>
        </p:nvSpPr>
        <p:spPr>
          <a:xfrm>
            <a:off x="4023360" y="5888736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Better organize resource sharing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7040880" y="4434840"/>
            <a:ext cx="4526280" cy="1874520"/>
          </a:xfrm>
          <a:prstGeom prst="roundRect">
            <a:avLst>
              <a:gd name="adj" fmla="val 5854"/>
            </a:avLst>
          </a:prstGeom>
          <a:solidFill>
            <a:srgbClr val="6A1B9A"/>
          </a:solidFill>
          <a:ln/>
        </p:spPr>
      </p:sp>
      <p:sp>
        <p:nvSpPr>
          <p:cNvPr id="48" name="Text 37"/>
          <p:cNvSpPr/>
          <p:nvPr/>
        </p:nvSpPr>
        <p:spPr>
          <a:xfrm>
            <a:off x="7315200" y="475488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“One campus. One marketplace.”</a:t>
            </a:r>
            <a:endParaRPr lang="en-US" sz="2000" dirty="0"/>
          </a:p>
        </p:txBody>
      </p:sp>
      <p:sp>
        <p:nvSpPr>
          <p:cNvPr id="49" name="Text 38"/>
          <p:cNvSpPr/>
          <p:nvPr/>
        </p:nvSpPr>
        <p:spPr>
          <a:xfrm>
            <a:off x="7315200" y="548640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0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borrow, rent, share, and offer equipment, learning resources, and student services — all in one trusted platform.</a:t>
            </a:r>
            <a:endParaRPr lang="en-US" sz="1150" dirty="0"/>
          </a:p>
        </p:txBody>
      </p:sp>
      <p:sp>
        <p:nvSpPr>
          <p:cNvPr id="50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Prototype Demonstration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→ Explore Marketplace → Search/Filter → Resource Detail → Submit Request → Message Owner → Dashboard → Admin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138988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38988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138988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9" name="Image 0" descr="/home/claude/assets/home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545336"/>
            <a:ext cx="2240280" cy="11978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8437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Homepage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2588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13" name="Shape 10"/>
          <p:cNvSpPr/>
          <p:nvPr/>
        </p:nvSpPr>
        <p:spPr>
          <a:xfrm>
            <a:off x="3319272" y="138988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7288" y="138988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5" name="Shape 12"/>
          <p:cNvSpPr/>
          <p:nvPr/>
        </p:nvSpPr>
        <p:spPr>
          <a:xfrm>
            <a:off x="3575304" y="138988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16" name="Image 1" descr="/home/claude/assets/record-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1545336"/>
            <a:ext cx="2240280" cy="11978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46120" y="28437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Explore Marketplace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0" y="132588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943600" y="132588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20" name="Shape 16"/>
          <p:cNvSpPr/>
          <p:nvPr/>
        </p:nvSpPr>
        <p:spPr>
          <a:xfrm>
            <a:off x="6016752" y="138988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1" name="Shape 17"/>
          <p:cNvSpPr/>
          <p:nvPr/>
        </p:nvSpPr>
        <p:spPr>
          <a:xfrm>
            <a:off x="6144768" y="138988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2" name="Shape 18"/>
          <p:cNvSpPr/>
          <p:nvPr/>
        </p:nvSpPr>
        <p:spPr>
          <a:xfrm>
            <a:off x="6272784" y="138988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3" name="Image 2" descr="/home/claude/assets/record-lis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89320" y="1545336"/>
            <a:ext cx="2240280" cy="11978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43600" y="28437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Search / Filter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641080" y="132588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641080" y="132588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27" name="Shape 22"/>
          <p:cNvSpPr/>
          <p:nvPr/>
        </p:nvSpPr>
        <p:spPr>
          <a:xfrm>
            <a:off x="8714232" y="138988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8" name="Shape 23"/>
          <p:cNvSpPr/>
          <p:nvPr/>
        </p:nvSpPr>
        <p:spPr>
          <a:xfrm>
            <a:off x="8842248" y="138988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29" name="Shape 24"/>
          <p:cNvSpPr/>
          <p:nvPr/>
        </p:nvSpPr>
        <p:spPr>
          <a:xfrm>
            <a:off x="8970264" y="138988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30" name="Image 3" descr="/home/claude/assets/input-form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86800" y="1545336"/>
            <a:ext cx="2240280" cy="119786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641080" y="28437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Request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2907792" y="1975104"/>
            <a:ext cx="292608" cy="164592"/>
          </a:xfrm>
          <a:prstGeom prst="rightArrow">
            <a:avLst/>
          </a:prstGeom>
          <a:solidFill>
            <a:srgbClr val="6A1B9A"/>
          </a:solidFill>
          <a:ln/>
        </p:spPr>
      </p:sp>
      <p:sp>
        <p:nvSpPr>
          <p:cNvPr id="33" name="Shape 27"/>
          <p:cNvSpPr/>
          <p:nvPr/>
        </p:nvSpPr>
        <p:spPr>
          <a:xfrm>
            <a:off x="5605272" y="1975104"/>
            <a:ext cx="292608" cy="164592"/>
          </a:xfrm>
          <a:prstGeom prst="rightArrow">
            <a:avLst/>
          </a:prstGeom>
          <a:solidFill>
            <a:srgbClr val="6A1B9A"/>
          </a:solidFill>
          <a:ln/>
        </p:spPr>
      </p:sp>
      <p:sp>
        <p:nvSpPr>
          <p:cNvPr id="34" name="Shape 28"/>
          <p:cNvSpPr/>
          <p:nvPr/>
        </p:nvSpPr>
        <p:spPr>
          <a:xfrm>
            <a:off x="8302752" y="1975104"/>
            <a:ext cx="292608" cy="164592"/>
          </a:xfrm>
          <a:prstGeom prst="rightArrow">
            <a:avLst/>
          </a:prstGeom>
          <a:solidFill>
            <a:srgbClr val="6A1B9A"/>
          </a:solidFill>
          <a:ln/>
        </p:spPr>
      </p:sp>
      <p:pic>
        <p:nvPicPr>
          <p:cNvPr id="35" name="Image 4" descr="/home/claude/deck/icons/arrowDown_6A1B9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8068" y="3099816"/>
            <a:ext cx="237744" cy="23774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8641080" y="347472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641080" y="347472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38" name="Shape 31"/>
          <p:cNvSpPr/>
          <p:nvPr/>
        </p:nvSpPr>
        <p:spPr>
          <a:xfrm>
            <a:off x="8714232" y="353872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9" name="Shape 32"/>
          <p:cNvSpPr/>
          <p:nvPr/>
        </p:nvSpPr>
        <p:spPr>
          <a:xfrm>
            <a:off x="8842248" y="353872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40" name="Shape 33"/>
          <p:cNvSpPr/>
          <p:nvPr/>
        </p:nvSpPr>
        <p:spPr>
          <a:xfrm>
            <a:off x="8970264" y="353872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41" name="Image 5" descr="/home/claude/assets/message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86800" y="3694176"/>
            <a:ext cx="2240280" cy="1197864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641080" y="49926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Message Owner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8622792" y="3456432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6A1B9A"/>
          </a:solidFill>
          <a:ln/>
        </p:spPr>
      </p:sp>
      <p:sp>
        <p:nvSpPr>
          <p:cNvPr id="44" name="Text 36"/>
          <p:cNvSpPr/>
          <p:nvPr/>
        </p:nvSpPr>
        <p:spPr>
          <a:xfrm>
            <a:off x="8622792" y="345643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5943600" y="347472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5943600" y="347472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47" name="Shape 39"/>
          <p:cNvSpPr/>
          <p:nvPr/>
        </p:nvSpPr>
        <p:spPr>
          <a:xfrm>
            <a:off x="6016752" y="353872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8" name="Shape 40"/>
          <p:cNvSpPr/>
          <p:nvPr/>
        </p:nvSpPr>
        <p:spPr>
          <a:xfrm>
            <a:off x="6144768" y="353872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49" name="Shape 41"/>
          <p:cNvSpPr/>
          <p:nvPr/>
        </p:nvSpPr>
        <p:spPr>
          <a:xfrm>
            <a:off x="6272784" y="353872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50" name="Image 6" descr="/home/claude/assets/dashboar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989320" y="3694176"/>
            <a:ext cx="2240280" cy="1197864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943600" y="49926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View Dashboard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5925312" y="3456432"/>
            <a:ext cx="292608" cy="256032"/>
          </a:xfrm>
          <a:prstGeom prst="roundRect">
            <a:avLst>
              <a:gd name="adj" fmla="val 17857"/>
            </a:avLst>
          </a:prstGeom>
          <a:solidFill>
            <a:srgbClr val="6A1B9A"/>
          </a:solidFill>
          <a:ln/>
        </p:spPr>
      </p:sp>
      <p:sp>
        <p:nvSpPr>
          <p:cNvPr id="53" name="Text 44"/>
          <p:cNvSpPr/>
          <p:nvPr/>
        </p:nvSpPr>
        <p:spPr>
          <a:xfrm>
            <a:off x="5925312" y="3456432"/>
            <a:ext cx="292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4" name="Shape 45"/>
          <p:cNvSpPr/>
          <p:nvPr/>
        </p:nvSpPr>
        <p:spPr>
          <a:xfrm>
            <a:off x="3246120" y="3474720"/>
            <a:ext cx="233172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CFEA"/>
            </a:solidFill>
            <a:prstDash val="solid"/>
          </a:ln>
          <a:effectLst>
            <a:outerShdw sx="100000" sy="100000" kx="0" ky="0" algn="bl" rotWithShape="0" blurRad="76200" dist="25400" dir="5400000">
              <a:srgbClr val="6A1B9A">
                <a:alpha val="15000"/>
              </a:srgbClr>
            </a:outerShdw>
          </a:effectLst>
        </p:spPr>
      </p:sp>
      <p:sp>
        <p:nvSpPr>
          <p:cNvPr id="55" name="Shape 46"/>
          <p:cNvSpPr/>
          <p:nvPr/>
        </p:nvSpPr>
        <p:spPr>
          <a:xfrm>
            <a:off x="3246120" y="3474720"/>
            <a:ext cx="2331720" cy="201168"/>
          </a:xfrm>
          <a:prstGeom prst="roundRect">
            <a:avLst>
              <a:gd name="adj" fmla="val 27273"/>
            </a:avLst>
          </a:prstGeom>
          <a:solidFill>
            <a:srgbClr val="EDE6F7"/>
          </a:solidFill>
          <a:ln/>
        </p:spPr>
      </p:sp>
      <p:sp>
        <p:nvSpPr>
          <p:cNvPr id="56" name="Shape 47"/>
          <p:cNvSpPr/>
          <p:nvPr/>
        </p:nvSpPr>
        <p:spPr>
          <a:xfrm>
            <a:off x="3319272" y="353872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57" name="Shape 48"/>
          <p:cNvSpPr/>
          <p:nvPr/>
        </p:nvSpPr>
        <p:spPr>
          <a:xfrm>
            <a:off x="3447288" y="353872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58" name="Shape 49"/>
          <p:cNvSpPr/>
          <p:nvPr/>
        </p:nvSpPr>
        <p:spPr>
          <a:xfrm>
            <a:off x="3575304" y="3538728"/>
            <a:ext cx="73152" cy="73152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59" name="Image 7" descr="/home/claude/assets/admin-view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291840" y="3694176"/>
            <a:ext cx="2240280" cy="1197864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3246120" y="499262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Admin Management</a:t>
            </a:r>
            <a:endParaRPr lang="en-US" sz="1100" dirty="0"/>
          </a:p>
        </p:txBody>
      </p:sp>
      <p:sp>
        <p:nvSpPr>
          <p:cNvPr id="61" name="Shape 51"/>
          <p:cNvSpPr/>
          <p:nvPr/>
        </p:nvSpPr>
        <p:spPr>
          <a:xfrm>
            <a:off x="3227832" y="3456432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6A1B9A"/>
          </a:solidFill>
          <a:ln/>
        </p:spPr>
      </p:sp>
      <p:sp>
        <p:nvSpPr>
          <p:cNvPr id="62" name="Text 52"/>
          <p:cNvSpPr/>
          <p:nvPr/>
        </p:nvSpPr>
        <p:spPr>
          <a:xfrm>
            <a:off x="3227832" y="34564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</a:t>
            </a:r>
            <a:endParaRPr lang="en-US" sz="950" dirty="0"/>
          </a:p>
        </p:txBody>
      </p:sp>
      <p:sp>
        <p:nvSpPr>
          <p:cNvPr id="63" name="Shape 53"/>
          <p:cNvSpPr/>
          <p:nvPr/>
        </p:nvSpPr>
        <p:spPr>
          <a:xfrm>
            <a:off x="8302752" y="4123944"/>
            <a:ext cx="292608" cy="164592"/>
          </a:xfrm>
          <a:prstGeom prst="leftArrow">
            <a:avLst/>
          </a:prstGeom>
          <a:solidFill>
            <a:srgbClr val="6A1B9A"/>
          </a:solidFill>
          <a:ln/>
        </p:spPr>
      </p:sp>
      <p:sp>
        <p:nvSpPr>
          <p:cNvPr id="64" name="Shape 54"/>
          <p:cNvSpPr/>
          <p:nvPr/>
        </p:nvSpPr>
        <p:spPr>
          <a:xfrm>
            <a:off x="5605272" y="4123944"/>
            <a:ext cx="292608" cy="164592"/>
          </a:xfrm>
          <a:prstGeom prst="leftArrow">
            <a:avLst/>
          </a:prstGeom>
          <a:solidFill>
            <a:srgbClr val="6A1B9A"/>
          </a:solidFill>
          <a:ln/>
        </p:spPr>
      </p:sp>
      <p:sp>
        <p:nvSpPr>
          <p:cNvPr id="65" name="Text 5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66" name="Text 5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summary of how RSU Nexus creates, delivers, and sustains value.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109155" cy="3493008"/>
          </a:xfrm>
          <a:prstGeom prst="roundRect">
            <a:avLst>
              <a:gd name="adj" fmla="val 3468"/>
            </a:avLst>
          </a:prstGeom>
          <a:solidFill>
            <a:srgbClr val="241B33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" y="140817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6" name="Image 0" descr="/home/claude/deck/icons/partn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474013"/>
            <a:ext cx="197510" cy="197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76656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Rangsit University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6656" y="2569464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clubs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67523" y="1280160"/>
            <a:ext cx="2109155" cy="1691640"/>
          </a:xfrm>
          <a:prstGeom prst="roundRect">
            <a:avLst>
              <a:gd name="adj" fmla="val 4324"/>
            </a:avLst>
          </a:prstGeom>
          <a:solidFill>
            <a:srgbClr val="241B33"/>
          </a:solidFill>
          <a:ln/>
        </p:spPr>
      </p:sp>
      <p:sp>
        <p:nvSpPr>
          <p:cNvPr id="11" name="Shape 8"/>
          <p:cNvSpPr/>
          <p:nvPr/>
        </p:nvSpPr>
        <p:spPr>
          <a:xfrm>
            <a:off x="2895539" y="140817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2" name="Image 1" descr="/home/claude/deck/icons/activit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376" y="1474013"/>
            <a:ext cx="197510" cy="1975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5539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895539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 management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895539" y="2569464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verification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86406" y="1280160"/>
            <a:ext cx="2109155" cy="3493008"/>
          </a:xfrm>
          <a:prstGeom prst="roundRect">
            <a:avLst>
              <a:gd name="adj" fmla="val 3468"/>
            </a:avLst>
          </a:prstGeom>
          <a:solidFill>
            <a:srgbClr val="6A1B9A"/>
          </a:solidFill>
          <a:ln/>
        </p:spPr>
      </p:sp>
      <p:sp>
        <p:nvSpPr>
          <p:cNvPr id="17" name="Shape 13"/>
          <p:cNvSpPr/>
          <p:nvPr/>
        </p:nvSpPr>
        <p:spPr>
          <a:xfrm>
            <a:off x="5114422" y="140817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home/claude/deck/icons/value_6A1B9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259" y="1474013"/>
            <a:ext cx="197510" cy="1975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14422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114422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0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Trusted campus resource sharing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205289" y="1280160"/>
            <a:ext cx="2109155" cy="1691640"/>
          </a:xfrm>
          <a:prstGeom prst="roundRect">
            <a:avLst>
              <a:gd name="adj" fmla="val 4324"/>
            </a:avLst>
          </a:prstGeom>
          <a:solidFill>
            <a:srgbClr val="241B33"/>
          </a:solidFill>
          <a:ln/>
        </p:spPr>
      </p:sp>
      <p:sp>
        <p:nvSpPr>
          <p:cNvPr id="22" name="Shape 17"/>
          <p:cNvSpPr/>
          <p:nvPr/>
        </p:nvSpPr>
        <p:spPr>
          <a:xfrm>
            <a:off x="7333305" y="140817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3" name="Image 3" descr="/home/claude/deck/icons/relationshi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142" y="1474013"/>
            <a:ext cx="197510" cy="1975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33305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333305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student accounts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333305" y="2569464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communication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9424172" y="1280160"/>
            <a:ext cx="2109155" cy="3493008"/>
          </a:xfrm>
          <a:prstGeom prst="roundRect">
            <a:avLst>
              <a:gd name="adj" fmla="val 3468"/>
            </a:avLst>
          </a:prstGeom>
          <a:solidFill>
            <a:srgbClr val="241B33"/>
          </a:solidFill>
          <a:ln/>
        </p:spPr>
      </p:sp>
      <p:sp>
        <p:nvSpPr>
          <p:cNvPr id="28" name="Shape 22"/>
          <p:cNvSpPr/>
          <p:nvPr/>
        </p:nvSpPr>
        <p:spPr>
          <a:xfrm>
            <a:off x="9552188" y="1408176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9" name="Image 4" descr="/home/claude/deck/icons/segmen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8025" y="1474013"/>
            <a:ext cx="197510" cy="19751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552188" y="1792224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9552188" y="2240280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RSU students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9552188" y="2569464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 organizations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2767523" y="3081528"/>
            <a:ext cx="2109155" cy="1691640"/>
          </a:xfrm>
          <a:prstGeom prst="roundRect">
            <a:avLst>
              <a:gd name="adj" fmla="val 4324"/>
            </a:avLst>
          </a:prstGeom>
          <a:solidFill>
            <a:srgbClr val="241B33"/>
          </a:solidFill>
          <a:ln/>
        </p:spPr>
      </p:sp>
      <p:sp>
        <p:nvSpPr>
          <p:cNvPr id="34" name="Shape 27"/>
          <p:cNvSpPr/>
          <p:nvPr/>
        </p:nvSpPr>
        <p:spPr>
          <a:xfrm>
            <a:off x="2895539" y="3209544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5" name="Image 5" descr="/home/claude/deck/icons/resourc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1376" y="3275381"/>
            <a:ext cx="197510" cy="19751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895539" y="3593592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150" dirty="0"/>
          </a:p>
        </p:txBody>
      </p:sp>
      <p:sp>
        <p:nvSpPr>
          <p:cNvPr id="37" name="Text 29"/>
          <p:cNvSpPr/>
          <p:nvPr/>
        </p:nvSpPr>
        <p:spPr>
          <a:xfrm>
            <a:off x="2895539" y="4041648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2895539" y="4370832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platform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7205289" y="3081528"/>
            <a:ext cx="2109155" cy="1691640"/>
          </a:xfrm>
          <a:prstGeom prst="roundRect">
            <a:avLst>
              <a:gd name="adj" fmla="val 4324"/>
            </a:avLst>
          </a:prstGeom>
          <a:solidFill>
            <a:srgbClr val="241B33"/>
          </a:solidFill>
          <a:ln/>
        </p:spPr>
      </p:sp>
      <p:sp>
        <p:nvSpPr>
          <p:cNvPr id="40" name="Shape 32"/>
          <p:cNvSpPr/>
          <p:nvPr/>
        </p:nvSpPr>
        <p:spPr>
          <a:xfrm>
            <a:off x="7333305" y="3209544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41" name="Image 6" descr="/home/claude/deck/icons/channel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142" y="3275381"/>
            <a:ext cx="197510" cy="19751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333305" y="3593592"/>
            <a:ext cx="18531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50" dirty="0"/>
          </a:p>
        </p:txBody>
      </p:sp>
      <p:sp>
        <p:nvSpPr>
          <p:cNvPr id="43" name="Text 34"/>
          <p:cNvSpPr/>
          <p:nvPr/>
        </p:nvSpPr>
        <p:spPr>
          <a:xfrm>
            <a:off x="7333305" y="4041648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 application</a:t>
            </a:r>
            <a:endParaRPr lang="en-US" sz="1000" dirty="0"/>
          </a:p>
        </p:txBody>
      </p:sp>
      <p:sp>
        <p:nvSpPr>
          <p:cNvPr id="44" name="Text 35"/>
          <p:cNvSpPr/>
          <p:nvPr/>
        </p:nvSpPr>
        <p:spPr>
          <a:xfrm>
            <a:off x="7333305" y="4370832"/>
            <a:ext cx="18531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University promotion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548640" y="4773168"/>
            <a:ext cx="5492344" cy="960120"/>
          </a:xfrm>
          <a:prstGeom prst="roundRect">
            <a:avLst>
              <a:gd name="adj" fmla="val 7619"/>
            </a:avLst>
          </a:prstGeom>
          <a:solidFill>
            <a:srgbClr val="F3EDFB"/>
          </a:solidFill>
          <a:ln/>
        </p:spPr>
      </p:sp>
      <p:sp>
        <p:nvSpPr>
          <p:cNvPr id="46" name="Shape 37"/>
          <p:cNvSpPr/>
          <p:nvPr/>
        </p:nvSpPr>
        <p:spPr>
          <a:xfrm>
            <a:off x="676656" y="4892040"/>
            <a:ext cx="310896" cy="310896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47" name="Image 7" descr="/home/claude/deck/icons/revenue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835" y="4954219"/>
            <a:ext cx="186538" cy="18653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1078992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(Future)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1078992" y="5212080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listings   •   Sponsored university services</a:t>
            </a:r>
            <a:endParaRPr lang="en-US" sz="1050" dirty="0"/>
          </a:p>
        </p:txBody>
      </p:sp>
      <p:sp>
        <p:nvSpPr>
          <p:cNvPr id="50" name="Shape 40"/>
          <p:cNvSpPr/>
          <p:nvPr/>
        </p:nvSpPr>
        <p:spPr>
          <a:xfrm>
            <a:off x="6150712" y="4773168"/>
            <a:ext cx="5492344" cy="960120"/>
          </a:xfrm>
          <a:prstGeom prst="roundRect">
            <a:avLst>
              <a:gd name="adj" fmla="val 7619"/>
            </a:avLst>
          </a:prstGeom>
          <a:solidFill>
            <a:srgbClr val="F3EDFB"/>
          </a:solidFill>
          <a:ln/>
        </p:spPr>
      </p:sp>
      <p:sp>
        <p:nvSpPr>
          <p:cNvPr id="51" name="Shape 41"/>
          <p:cNvSpPr/>
          <p:nvPr/>
        </p:nvSpPr>
        <p:spPr>
          <a:xfrm>
            <a:off x="6278728" y="4892040"/>
            <a:ext cx="310896" cy="310896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52" name="Image 8" descr="/home/claude/deck/icons/cos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0907" y="4954219"/>
            <a:ext cx="186538" cy="186538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6681064" y="48646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6681064" y="5212080"/>
            <a:ext cx="4852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  •   Database   •   Maintenance</a:t>
            </a:r>
            <a:endParaRPr lang="en-US" sz="1050" dirty="0"/>
          </a:p>
        </p:txBody>
      </p:sp>
      <p:sp>
        <p:nvSpPr>
          <p:cNvPr id="55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Metrics &amp; User Testing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Results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F193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27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417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F193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527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900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417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F1930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527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4.17/5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1792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Usability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417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F1930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0" y="152704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39DD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4.25/5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06840" y="21488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Interest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3657600" cy="1965960"/>
          </a:xfrm>
          <a:prstGeom prst="roundRect">
            <a:avLst>
              <a:gd name="adj" fmla="val 4651"/>
            </a:avLst>
          </a:prstGeom>
          <a:solidFill>
            <a:srgbClr val="1F1930"/>
          </a:solidFill>
          <a:ln/>
        </p:spPr>
      </p:sp>
      <p:graphicFrame>
        <p:nvGraphicFramePr>
          <p:cNvPr id="17" name="Chart 0" descr=""/>
          <p:cNvGraphicFramePr/>
          <p:nvPr/>
        </p:nvGraphicFramePr>
        <p:xfrm>
          <a:off x="685800" y="2926080"/>
          <a:ext cx="19202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85800" y="3383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83.3%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5800" y="37216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697480" y="34747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 Rate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480560" y="2788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F1930"/>
          </a:solidFill>
          <a:ln/>
        </p:spPr>
      </p:sp>
      <p:sp>
        <p:nvSpPr>
          <p:cNvPr id="22" name="Shape 19"/>
          <p:cNvSpPr/>
          <p:nvPr/>
        </p:nvSpPr>
        <p:spPr>
          <a:xfrm>
            <a:off x="4663440" y="2953512"/>
            <a:ext cx="365760" cy="365760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23" name="Image 0" descr="/home/claude/deck/icons/che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3026664"/>
            <a:ext cx="219456" cy="21945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138928" y="299008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Positive Feedback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709160" y="34747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Easy to use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709160" y="385876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Attractive interface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709160" y="424281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Helpful search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8183880" y="2788920"/>
            <a:ext cx="3456432" cy="1965960"/>
          </a:xfrm>
          <a:prstGeom prst="roundRect">
            <a:avLst>
              <a:gd name="adj" fmla="val 4651"/>
            </a:avLst>
          </a:prstGeom>
          <a:solidFill>
            <a:srgbClr val="1F1930"/>
          </a:solidFill>
          <a:ln/>
        </p:spPr>
      </p:sp>
      <p:sp>
        <p:nvSpPr>
          <p:cNvPr id="29" name="Shape 25"/>
          <p:cNvSpPr/>
          <p:nvPr/>
        </p:nvSpPr>
        <p:spPr>
          <a:xfrm>
            <a:off x="8366760" y="2953512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0" name="Image 1" descr="/home/claude/deck/icons/wrench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3035808"/>
            <a:ext cx="201168" cy="20116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842248" y="2990088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Improvements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412480" y="3474720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Better availability labels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8412480" y="385876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Built-in messaging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8412480" y="4242816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detailed status tracking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F1930"/>
          </a:solidFill>
          <a:ln/>
        </p:spPr>
      </p:sp>
      <p:graphicFrame>
        <p:nvGraphicFramePr>
          <p:cNvPr id="36" name="Chart 1" descr=""/>
          <p:cNvGraphicFramePr/>
          <p:nvPr/>
        </p:nvGraphicFramePr>
        <p:xfrm>
          <a:off x="822960" y="5120640"/>
          <a:ext cx="10515600" cy="114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7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4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 &amp; Data Handling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241B3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44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6" name="Image 0" descr="/home/claude/deck/icons/htm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1795882"/>
            <a:ext cx="175565" cy="1755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7373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9" name="Image 1" descr="/home/claude/deck/icons/cs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2" y="2161642"/>
            <a:ext cx="175565" cy="17556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103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2" name="Image 2" descr="/home/claude/deck/icons/j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2527402"/>
            <a:ext cx="175565" cy="17556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5568" y="24688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150" dirty="0"/>
          </a:p>
        </p:txBody>
      </p:sp>
      <p:pic>
        <p:nvPicPr>
          <p:cNvPr id="14" name="Image 3" descr="/home/claude/deck/icons/bolt_6A1B9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965960"/>
            <a:ext cx="274320" cy="27432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794760" y="2020824"/>
            <a:ext cx="365760" cy="164592"/>
          </a:xfrm>
          <a:prstGeom prst="rightArrow">
            <a:avLst/>
          </a:prstGeom>
          <a:solidFill>
            <a:srgbClr val="6A1B9A">
              <a:alpha val="75000"/>
            </a:srgbClr>
          </a:solidFill>
          <a:ln/>
        </p:spPr>
      </p:sp>
      <p:sp>
        <p:nvSpPr>
          <p:cNvPr id="16" name="Shape 10"/>
          <p:cNvSpPr/>
          <p:nvPr/>
        </p:nvSpPr>
        <p:spPr>
          <a:xfrm>
            <a:off x="4206240" y="12344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241B33"/>
          </a:solidFill>
          <a:ln/>
        </p:spPr>
      </p:sp>
      <p:sp>
        <p:nvSpPr>
          <p:cNvPr id="17" name="Text 11"/>
          <p:cNvSpPr/>
          <p:nvPr/>
        </p:nvSpPr>
        <p:spPr>
          <a:xfrm>
            <a:off x="4389120" y="1344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389120" y="173736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19" name="Image 4" descr="/home/claude/deck/icons/lo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7642" y="1795882"/>
            <a:ext cx="175565" cy="1755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73168" y="17373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4389120" y="210312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2" name="Image 5" descr="/home/claude/deck/icons/resourc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642" y="2161642"/>
            <a:ext cx="175565" cy="17556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773168" y="210312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4389120" y="246888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25" name="Image 6" descr="/home/claude/deck/icons/cloud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642" y="2527402"/>
            <a:ext cx="175565" cy="17556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4773168" y="24688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50" dirty="0"/>
          </a:p>
        </p:txBody>
      </p:sp>
      <p:pic>
        <p:nvPicPr>
          <p:cNvPr id="27" name="Image 7" descr="/home/claude/deck/icons/bolt_6A1B9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1965960"/>
            <a:ext cx="274320" cy="27432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452360" y="2020824"/>
            <a:ext cx="365760" cy="164592"/>
          </a:xfrm>
          <a:prstGeom prst="rightArrow">
            <a:avLst/>
          </a:prstGeom>
          <a:solidFill>
            <a:srgbClr val="6A1B9A">
              <a:alpha val="75000"/>
            </a:srgbClr>
          </a:solidFill>
          <a:ln/>
        </p:spPr>
      </p:sp>
      <p:sp>
        <p:nvSpPr>
          <p:cNvPr id="29" name="Shape 19"/>
          <p:cNvSpPr/>
          <p:nvPr/>
        </p:nvSpPr>
        <p:spPr>
          <a:xfrm>
            <a:off x="7863840" y="12344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241B33"/>
          </a:solidFill>
          <a:ln/>
        </p:spPr>
      </p:sp>
      <p:sp>
        <p:nvSpPr>
          <p:cNvPr id="30" name="Text 20"/>
          <p:cNvSpPr/>
          <p:nvPr/>
        </p:nvSpPr>
        <p:spPr>
          <a:xfrm>
            <a:off x="8046720" y="13441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8046720" y="1737360"/>
            <a:ext cx="292608" cy="292608"/>
          </a:xfrm>
          <a:prstGeom prst="ellipse">
            <a:avLst/>
          </a:prstGeom>
          <a:solidFill>
            <a:srgbClr val="6A1B9A"/>
          </a:solidFill>
          <a:ln/>
        </p:spPr>
      </p:sp>
      <p:pic>
        <p:nvPicPr>
          <p:cNvPr id="32" name="Image 8" descr="/home/claude/deck/icons/bol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5242" y="1795882"/>
            <a:ext cx="175565" cy="17556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8430768" y="173736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50" dirty="0"/>
          </a:p>
        </p:txBody>
      </p:sp>
      <p:sp>
        <p:nvSpPr>
          <p:cNvPr id="34" name="Text 23"/>
          <p:cNvSpPr/>
          <p:nvPr/>
        </p:nvSpPr>
        <p:spPr>
          <a:xfrm>
            <a:off x="5486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FEATURES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548640" y="3639312"/>
            <a:ext cx="1848917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36" name="Text 25"/>
          <p:cNvSpPr/>
          <p:nvPr/>
        </p:nvSpPr>
        <p:spPr>
          <a:xfrm>
            <a:off x="548640" y="3639312"/>
            <a:ext cx="184891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Design</a:t>
            </a:r>
            <a:endParaRPr lang="en-US" sz="1050" dirty="0"/>
          </a:p>
        </p:txBody>
      </p:sp>
      <p:sp>
        <p:nvSpPr>
          <p:cNvPr id="37" name="Shape 26"/>
          <p:cNvSpPr/>
          <p:nvPr/>
        </p:nvSpPr>
        <p:spPr>
          <a:xfrm>
            <a:off x="2534717" y="3639312"/>
            <a:ext cx="1698955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38" name="Text 27"/>
          <p:cNvSpPr/>
          <p:nvPr/>
        </p:nvSpPr>
        <p:spPr>
          <a:xfrm>
            <a:off x="2534717" y="3639312"/>
            <a:ext cx="169895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4370832" y="3639312"/>
            <a:ext cx="1399032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40" name="Text 29"/>
          <p:cNvSpPr/>
          <p:nvPr/>
        </p:nvSpPr>
        <p:spPr>
          <a:xfrm>
            <a:off x="4370832" y="3639312"/>
            <a:ext cx="1399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548640" y="4059936"/>
            <a:ext cx="1623974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42" name="Text 31"/>
          <p:cNvSpPr/>
          <p:nvPr/>
        </p:nvSpPr>
        <p:spPr>
          <a:xfrm>
            <a:off x="548640" y="4059936"/>
            <a:ext cx="16239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Management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2309774" y="4059936"/>
            <a:ext cx="949147" cy="347472"/>
          </a:xfrm>
          <a:prstGeom prst="roundRect">
            <a:avLst>
              <a:gd name="adj" fmla="val 50000"/>
            </a:avLst>
          </a:prstGeom>
          <a:solidFill>
            <a:srgbClr val="F3EDFB"/>
          </a:solidFill>
          <a:ln/>
        </p:spPr>
      </p:sp>
      <p:sp>
        <p:nvSpPr>
          <p:cNvPr id="44" name="Text 33"/>
          <p:cNvSpPr/>
          <p:nvPr/>
        </p:nvSpPr>
        <p:spPr>
          <a:xfrm>
            <a:off x="2309774" y="4059936"/>
            <a:ext cx="94914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6720840" y="3246120"/>
            <a:ext cx="4922215" cy="2148840"/>
          </a:xfrm>
          <a:prstGeom prst="roundRect">
            <a:avLst>
              <a:gd name="adj" fmla="val 4255"/>
            </a:avLst>
          </a:prstGeom>
          <a:solidFill>
            <a:srgbClr val="6A1B9A"/>
          </a:solidFill>
          <a:ln/>
        </p:spPr>
      </p:sp>
      <p:sp>
        <p:nvSpPr>
          <p:cNvPr id="46" name="Text 35"/>
          <p:cNvSpPr/>
          <p:nvPr/>
        </p:nvSpPr>
        <p:spPr>
          <a:xfrm>
            <a:off x="6949440" y="3383280"/>
            <a:ext cx="4465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Data Handling</a:t>
            </a:r>
            <a:endParaRPr lang="en-US" sz="1350" dirty="0"/>
          </a:p>
        </p:txBody>
      </p:sp>
      <p:sp>
        <p:nvSpPr>
          <p:cNvPr id="47" name="Shape 36"/>
          <p:cNvSpPr/>
          <p:nvPr/>
        </p:nvSpPr>
        <p:spPr>
          <a:xfrm>
            <a:off x="6949440" y="3794760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9" descr="/home/claude/deck/icons/lock_6A1B9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1619" y="3856939"/>
            <a:ext cx="186538" cy="18653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7360920" y="3794760"/>
            <a:ext cx="4053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student login</a:t>
            </a:r>
            <a:endParaRPr lang="en-US" sz="1150" dirty="0"/>
          </a:p>
        </p:txBody>
      </p:sp>
      <p:sp>
        <p:nvSpPr>
          <p:cNvPr id="50" name="Shape 38"/>
          <p:cNvSpPr/>
          <p:nvPr/>
        </p:nvSpPr>
        <p:spPr>
          <a:xfrm>
            <a:off x="6949440" y="4197096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10" descr="/home/claude/deck/icons/minData_6A1B9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1619" y="4259275"/>
            <a:ext cx="186538" cy="18653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7360920" y="4197096"/>
            <a:ext cx="4053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personal data</a:t>
            </a:r>
            <a:endParaRPr lang="en-US" sz="1150" dirty="0"/>
          </a:p>
        </p:txBody>
      </p:sp>
      <p:sp>
        <p:nvSpPr>
          <p:cNvPr id="53" name="Shape 40"/>
          <p:cNvSpPr/>
          <p:nvPr/>
        </p:nvSpPr>
        <p:spPr>
          <a:xfrm>
            <a:off x="6949440" y="4599432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4" name="Image 11" descr="/home/claude/deck/icons/resource_6A1B9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11619" y="4661611"/>
            <a:ext cx="186538" cy="186538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7360920" y="4599432"/>
            <a:ext cx="4053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database</a:t>
            </a:r>
            <a:endParaRPr lang="en-US" sz="1150" dirty="0"/>
          </a:p>
        </p:txBody>
      </p:sp>
      <p:sp>
        <p:nvSpPr>
          <p:cNvPr id="56" name="Shape 42"/>
          <p:cNvSpPr/>
          <p:nvPr/>
        </p:nvSpPr>
        <p:spPr>
          <a:xfrm>
            <a:off x="6949440" y="50017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7" name="Image 12" descr="/home/claude/deck/icons/roleAccess_6A1B9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11619" y="5063947"/>
            <a:ext cx="186538" cy="186538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7360920" y="5001768"/>
            <a:ext cx="4053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50" dirty="0"/>
          </a:p>
        </p:txBody>
      </p:sp>
      <p:sp>
        <p:nvSpPr>
          <p:cNvPr id="59" name="Text 4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60" name="Text 4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Improvements &amp; Future Development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79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roadmap: completed improvements in green, future plans in blue.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1F1930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673352"/>
            <a:ext cx="420624" cy="420624"/>
          </a:xfrm>
          <a:prstGeom prst="ellipse">
            <a:avLst/>
          </a:prstGeom>
          <a:solidFill>
            <a:srgbClr val="2ECC71"/>
          </a:solidFill>
          <a:ln/>
        </p:spPr>
      </p:sp>
      <p:pic>
        <p:nvPicPr>
          <p:cNvPr id="6" name="Image 0" descr="/home/claude/deck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797" y="1757477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2821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Improvements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37744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3500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3000" y="233172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homepage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92608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8986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43000" y="288036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marketplace navigation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47472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344728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43000" y="342900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request workflow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402336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399592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43000" y="397764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improvements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22960" y="457200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8"/>
          <p:cNvSpPr/>
          <p:nvPr/>
        </p:nvSpPr>
        <p:spPr>
          <a:xfrm>
            <a:off x="822960" y="45445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43000" y="452628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messages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22960" y="5120640"/>
            <a:ext cx="201168" cy="20116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50932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43000" y="507492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17920" y="1417320"/>
            <a:ext cx="5425135" cy="4754880"/>
          </a:xfrm>
          <a:prstGeom prst="roundRect">
            <a:avLst>
              <a:gd name="adj" fmla="val 1923"/>
            </a:avLst>
          </a:prstGeom>
          <a:solidFill>
            <a:srgbClr val="1F1930"/>
          </a:solidFill>
          <a:ln/>
        </p:spPr>
      </p:sp>
      <p:sp>
        <p:nvSpPr>
          <p:cNvPr id="27" name="Shape 24"/>
          <p:cNvSpPr/>
          <p:nvPr/>
        </p:nvSpPr>
        <p:spPr>
          <a:xfrm>
            <a:off x="6473952" y="1673352"/>
            <a:ext cx="420624" cy="420624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28" name="Image 1" descr="/home/claude/deck/icons/char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077" y="1757477"/>
            <a:ext cx="252374" cy="25237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040880" y="1728216"/>
            <a:ext cx="4419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Development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6492240" y="2331720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1" name="Image 2" descr="/home/claude/deck/icons/messa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688" y="2393168"/>
            <a:ext cx="169713" cy="169713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903720" y="2331720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6492240" y="2816352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4" name="Image 3" descr="/home/claude/deck/icons/bel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688" y="2877800"/>
            <a:ext cx="169713" cy="169713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03720" y="2816352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6492240" y="3300984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37" name="Image 4" descr="/home/claude/deck/icons/mobi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688" y="3362432"/>
            <a:ext cx="169713" cy="16971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03720" y="3300984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6492240" y="3785616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40" name="Image 5" descr="/home/claude/deck/icons/q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688" y="3847064"/>
            <a:ext cx="169713" cy="169713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903720" y="3785616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6492240" y="4270248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43" name="Image 6" descr="/home/claude/deck/icons/brain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688" y="4331696"/>
            <a:ext cx="169713" cy="169713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903720" y="4270248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recommendations</a:t>
            </a:r>
            <a:endParaRPr lang="en-US" sz="1250" dirty="0"/>
          </a:p>
        </p:txBody>
      </p:sp>
      <p:sp>
        <p:nvSpPr>
          <p:cNvPr id="45" name="Shape 36"/>
          <p:cNvSpPr/>
          <p:nvPr/>
        </p:nvSpPr>
        <p:spPr>
          <a:xfrm>
            <a:off x="6492240" y="4754880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46" name="Image 7" descr="/home/claude/deck/icons/reviewStar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3688" y="4816328"/>
            <a:ext cx="169713" cy="169713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903720" y="4754880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review system</a:t>
            </a:r>
            <a:endParaRPr lang="en-US" sz="1250" dirty="0"/>
          </a:p>
        </p:txBody>
      </p:sp>
      <p:sp>
        <p:nvSpPr>
          <p:cNvPr id="48" name="Shape 38"/>
          <p:cNvSpPr/>
          <p:nvPr/>
        </p:nvSpPr>
        <p:spPr>
          <a:xfrm>
            <a:off x="6492240" y="5239512"/>
            <a:ext cx="292608" cy="292608"/>
          </a:xfrm>
          <a:prstGeom prst="ellipse">
            <a:avLst/>
          </a:prstGeom>
          <a:solidFill>
            <a:srgbClr val="3498DB"/>
          </a:solidFill>
          <a:ln/>
        </p:spPr>
      </p:sp>
      <p:pic>
        <p:nvPicPr>
          <p:cNvPr id="49" name="Image 8" descr="/home/claude/deck/icons/chart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688" y="5300960"/>
            <a:ext cx="169713" cy="169713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903720" y="5239512"/>
            <a:ext cx="45107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250" dirty="0"/>
          </a:p>
        </p:txBody>
      </p:sp>
      <p:sp>
        <p:nvSpPr>
          <p:cNvPr id="51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52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A1B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30088" y="822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home/claude/deck/icons/handshake_6A1B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680" y="9875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6916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645920" y="2606040"/>
            <a:ext cx="8899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3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helps students discover, share, and request campus resources through one trusted platform.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98568" y="3429000"/>
            <a:ext cx="219456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361188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Campus Resource Marketplace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0" y="3950208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5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Quartet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775808" y="45262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deck/icons/question_6A1B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826" y="46702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0" y="52578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RSU Nexus — Final Venture Pitch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2026-07-30T14:20:44Z</dcterms:created>
  <dcterms:modified xsi:type="dcterms:W3CDTF">2026-07-30T14:20:44Z</dcterms:modified>
</cp:coreProperties>
</file>